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Portada del sistema ISSEMYM. Presentar ante directores.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de la presentación.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4 problemas principales que existían antes del sistema.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6 capacidades principales del sistema.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Stack tecnológico. Énfasis en que es 100% software libre.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Flujo de trabajo en 5 pasos.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4 roles de usuario. Los roles son acumulativos.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Medidas de seguridad del sistema.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Arquitectura de red local. Servidor HP EliteDesk como punto central.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KPIs y métricas clave del sistema.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Logros alcanzados y hoja de ruta futura.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Cierre. Mencionar la URL de acceso al sistema en red local.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C49A2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-365760"/>
            <a:ext cx="2560320" cy="2560320"/>
          </a:xfrm>
          <a:prstGeom prst="ellipse">
            <a:avLst/>
          </a:prstGeom>
          <a:solidFill>
            <a:srgbClr val="C49A2A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480560"/>
            <a:ext cx="2926080" cy="662940"/>
          </a:xfrm>
          <a:prstGeom prst="rect">
            <a:avLst/>
          </a:prstGeom>
          <a:solidFill>
            <a:srgbClr val="8C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4480560"/>
            <a:ext cx="2743200" cy="6629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ISSEMYM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4498848"/>
            <a:ext cx="60350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A1128"/>
                </a:solidFill>
                <a:latin typeface="Calibri"/>
              </a:rPr>
              <a:t>FICG Systems  ·  Gobierno del Estado de México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31520"/>
            <a:ext cx="71323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Sistema de Gestión</a:t>
            </a:r>
          </a:p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Documental Digital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651760"/>
            <a:ext cx="3657600" cy="36576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788920"/>
            <a:ext cx="71323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E8C96A"/>
                </a:solidFill>
                <a:latin typeface="Calibri"/>
              </a:rPr>
              <a:t>Aviso de Movimiento para la Afiliación</a:t>
            </a:r>
          </a:p>
          <a:p>
            <a:pPr algn="l"/>
            <a:r>
              <a:rPr sz="1700" b="0" i="1">
                <a:solidFill>
                  <a:srgbClr val="E8C96A"/>
                </a:solidFill>
                <a:latin typeface="Calibri"/>
              </a:rPr>
              <a:t>y Vigencia de Derechos · ISSEMYM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49039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Secretaría de Educación del Estado de México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8C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11480"/>
            <a:ext cx="26517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Contenido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96012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8C96A"/>
                </a:solidFill>
                <a:latin typeface="Calibri"/>
              </a:rPr>
              <a:t>de la Presentación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54680" y="411480"/>
            <a:ext cx="2743200" cy="987552"/>
          </a:xfrm>
          <a:prstGeom prst="roundRect">
            <a:avLst>
              <a:gd name="adj" fmla="val 5000"/>
            </a:avLst>
          </a:prstGeom>
          <a:solidFill>
            <a:srgbClr val="F9F0F3"/>
          </a:solidFill>
          <a:ln w="9525">
            <a:solidFill>
              <a:srgbClr val="E0D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64408" y="585216"/>
            <a:ext cx="53035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C49A2A"/>
                </a:solidFill>
                <a:latin typeface="Cambr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67912" y="667512"/>
            <a:ext cx="187451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C2C2C"/>
                </a:solidFill>
                <a:latin typeface="Calibri"/>
              </a:rPr>
              <a:t>El Reto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1545336"/>
            <a:ext cx="2743200" cy="987552"/>
          </a:xfrm>
          <a:prstGeom prst="roundRect">
            <a:avLst>
              <a:gd name="adj" fmla="val 5000"/>
            </a:avLst>
          </a:prstGeom>
          <a:solidFill>
            <a:srgbClr val="F9F0F3"/>
          </a:solidFill>
          <a:ln w="9525">
            <a:solidFill>
              <a:srgbClr val="E0D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64408" y="1719072"/>
            <a:ext cx="53035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C49A2A"/>
                </a:solidFill>
                <a:latin typeface="Cambr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67912" y="1801368"/>
            <a:ext cx="187451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C2C2C"/>
                </a:solidFill>
                <a:latin typeface="Calibri"/>
              </a:rPr>
              <a:t>Solución Implementada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80" y="2679192"/>
            <a:ext cx="2743200" cy="987552"/>
          </a:xfrm>
          <a:prstGeom prst="roundRect">
            <a:avLst>
              <a:gd name="adj" fmla="val 5000"/>
            </a:avLst>
          </a:prstGeom>
          <a:solidFill>
            <a:srgbClr val="F9F0F3"/>
          </a:solidFill>
          <a:ln w="9525">
            <a:solidFill>
              <a:srgbClr val="E0D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64408" y="2852928"/>
            <a:ext cx="53035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C49A2A"/>
                </a:solidFill>
                <a:latin typeface="Cambria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67912" y="2935224"/>
            <a:ext cx="187451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C2C2C"/>
                </a:solidFill>
                <a:latin typeface="Calibri"/>
              </a:rPr>
              <a:t>Tecnología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54680" y="3813048"/>
            <a:ext cx="2743200" cy="987552"/>
          </a:xfrm>
          <a:prstGeom prst="roundRect">
            <a:avLst>
              <a:gd name="adj" fmla="val 5000"/>
            </a:avLst>
          </a:prstGeom>
          <a:solidFill>
            <a:srgbClr val="F9F0F3"/>
          </a:solidFill>
          <a:ln w="9525">
            <a:solidFill>
              <a:srgbClr val="E0D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64408" y="3986784"/>
            <a:ext cx="53035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C49A2A"/>
                </a:solidFill>
                <a:latin typeface="Cambria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7912" y="4069080"/>
            <a:ext cx="187451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C2C2C"/>
                </a:solidFill>
                <a:latin typeface="Calibri"/>
              </a:rPr>
              <a:t>Cómo Funciona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411480"/>
            <a:ext cx="2743200" cy="987552"/>
          </a:xfrm>
          <a:prstGeom prst="roundRect">
            <a:avLst>
              <a:gd name="adj" fmla="val 5000"/>
            </a:avLst>
          </a:prstGeom>
          <a:solidFill>
            <a:srgbClr val="F9F0F3"/>
          </a:solidFill>
          <a:ln w="9525">
            <a:solidFill>
              <a:srgbClr val="E0D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0488" y="585216"/>
            <a:ext cx="53035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C49A2A"/>
                </a:solidFill>
                <a:latin typeface="Cambria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3992" y="667512"/>
            <a:ext cx="187451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C2C2C"/>
                </a:solidFill>
                <a:latin typeface="Calibri"/>
              </a:rPr>
              <a:t>Perfiles de Usuario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1545336"/>
            <a:ext cx="2743200" cy="987552"/>
          </a:xfrm>
          <a:prstGeom prst="roundRect">
            <a:avLst>
              <a:gd name="adj" fmla="val 5000"/>
            </a:avLst>
          </a:prstGeom>
          <a:solidFill>
            <a:srgbClr val="F9F0F3"/>
          </a:solidFill>
          <a:ln w="9525">
            <a:solidFill>
              <a:srgbClr val="E0D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0488" y="1719072"/>
            <a:ext cx="53035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C49A2A"/>
                </a:solidFill>
                <a:latin typeface="Cambria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93992" y="1801368"/>
            <a:ext cx="187451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C2C2C"/>
                </a:solidFill>
                <a:latin typeface="Calibri"/>
              </a:rPr>
              <a:t>Seguridad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80760" y="2679192"/>
            <a:ext cx="2743200" cy="987552"/>
          </a:xfrm>
          <a:prstGeom prst="roundRect">
            <a:avLst>
              <a:gd name="adj" fmla="val 5000"/>
            </a:avLst>
          </a:prstGeom>
          <a:solidFill>
            <a:srgbClr val="F9F0F3"/>
          </a:solidFill>
          <a:ln w="9525">
            <a:solidFill>
              <a:srgbClr val="E0D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0488" y="2852928"/>
            <a:ext cx="53035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C49A2A"/>
                </a:solidFill>
                <a:latin typeface="Cambria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93992" y="2935224"/>
            <a:ext cx="187451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C2C2C"/>
                </a:solidFill>
                <a:latin typeface="Calibri"/>
              </a:rPr>
              <a:t>Infraestructura Local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0760" y="3813048"/>
            <a:ext cx="2743200" cy="987552"/>
          </a:xfrm>
          <a:prstGeom prst="roundRect">
            <a:avLst>
              <a:gd name="adj" fmla="val 5000"/>
            </a:avLst>
          </a:prstGeom>
          <a:solidFill>
            <a:srgbClr val="F9F0F3"/>
          </a:solidFill>
          <a:ln w="9525">
            <a:solidFill>
              <a:srgbClr val="E0D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90488" y="3986784"/>
            <a:ext cx="53035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C49A2A"/>
                </a:solidFill>
                <a:latin typeface="Cambria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93992" y="4069080"/>
            <a:ext cx="187451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C2C2C"/>
                </a:solidFill>
                <a:latin typeface="Calibri"/>
              </a:rPr>
              <a:t>Capacidades y Resultados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8C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El Reto: Gestión Manual de Documentos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4206240" cy="1691640"/>
          </a:xfrm>
          <a:prstGeom prst="roundRect">
            <a:avLst>
              <a:gd name="adj" fmla="val 5000"/>
            </a:avLst>
          </a:prstGeom>
          <a:solidFill>
            <a:srgbClr val="F9F0F3"/>
          </a:solidFill>
          <a:ln w="9525">
            <a:solidFill>
              <a:srgbClr val="DDD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38912" y="1719072"/>
            <a:ext cx="548640" cy="548640"/>
          </a:xfrm>
          <a:prstGeom prst="ellipse">
            <a:avLst/>
          </a:prstGeom>
          <a:solidFill>
            <a:srgbClr val="F0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1691640"/>
            <a:ext cx="548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8C1C40"/>
                </a:solidFill>
                <a:latin typeface="Calibri"/>
              </a:rPr>
              <a:t>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371600"/>
            <a:ext cx="32461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C1C40"/>
                </a:solidFill>
                <a:latin typeface="Calibri"/>
              </a:rPr>
              <a:t>Procesamiento Manual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83080"/>
            <a:ext cx="32461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5C5C"/>
                </a:solidFill>
                <a:latin typeface="Calibri"/>
              </a:rPr>
              <a:t>Cientos de PDFs revisados y capturados a mano, lote por lote, sin ninguna automatización.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59" y="1188720"/>
            <a:ext cx="4206240" cy="1691640"/>
          </a:xfrm>
          <a:prstGeom prst="roundRect">
            <a:avLst>
              <a:gd name="adj" fmla="val 5000"/>
            </a:avLst>
          </a:prstGeom>
          <a:solidFill>
            <a:srgbClr val="F9F0F3"/>
          </a:solidFill>
          <a:ln w="9525">
            <a:solidFill>
              <a:srgbClr val="DDD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73751" y="1719072"/>
            <a:ext cx="548640" cy="548640"/>
          </a:xfrm>
          <a:prstGeom prst="ellipse">
            <a:avLst/>
          </a:prstGeom>
          <a:solidFill>
            <a:srgbClr val="F0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73751" y="1691640"/>
            <a:ext cx="548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8C1C40"/>
                </a:solidFill>
                <a:latin typeface="Calibri"/>
              </a:rPr>
              <a:t>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2120" y="1371600"/>
            <a:ext cx="32461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C1C40"/>
                </a:solidFill>
                <a:latin typeface="Calibri"/>
              </a:rPr>
              <a:t>Errores de Captura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1783080"/>
            <a:ext cx="32461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5C5C"/>
                </a:solidFill>
                <a:latin typeface="Calibri"/>
              </a:rPr>
              <a:t>Datos como nombre, clave de afiliación y RFC ingresados manualmente con alto riesgo de error.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3017520"/>
            <a:ext cx="4206240" cy="1691640"/>
          </a:xfrm>
          <a:prstGeom prst="roundRect">
            <a:avLst>
              <a:gd name="adj" fmla="val 5000"/>
            </a:avLst>
          </a:prstGeom>
          <a:solidFill>
            <a:srgbClr val="F9F0F3"/>
          </a:solidFill>
          <a:ln w="9525">
            <a:solidFill>
              <a:srgbClr val="DDD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8912" y="3547872"/>
            <a:ext cx="548640" cy="548640"/>
          </a:xfrm>
          <a:prstGeom prst="ellipse">
            <a:avLst/>
          </a:prstGeom>
          <a:solidFill>
            <a:srgbClr val="F0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3520439"/>
            <a:ext cx="548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8C1C40"/>
                </a:solidFill>
                <a:latin typeface="Calibri"/>
              </a:rPr>
              <a:t>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200400"/>
            <a:ext cx="32461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C1C40"/>
                </a:solidFill>
                <a:latin typeface="Calibri"/>
              </a:rPr>
              <a:t>Búsqueda Lenta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611879"/>
            <a:ext cx="32461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5C5C"/>
                </a:solidFill>
                <a:latin typeface="Calibri"/>
              </a:rPr>
              <a:t>Sin sistema de búsqueda: localizar un expediente tomaba minutos u horas en archivos físicos.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59" y="3017520"/>
            <a:ext cx="4206240" cy="1691640"/>
          </a:xfrm>
          <a:prstGeom prst="roundRect">
            <a:avLst>
              <a:gd name="adj" fmla="val 5000"/>
            </a:avLst>
          </a:prstGeom>
          <a:solidFill>
            <a:srgbClr val="F9F0F3"/>
          </a:solidFill>
          <a:ln w="9525">
            <a:solidFill>
              <a:srgbClr val="DDD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873751" y="3547872"/>
            <a:ext cx="548640" cy="548640"/>
          </a:xfrm>
          <a:prstGeom prst="ellipse">
            <a:avLst/>
          </a:prstGeom>
          <a:solidFill>
            <a:srgbClr val="F0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73751" y="3520439"/>
            <a:ext cx="548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8C1C40"/>
                </a:solidFill>
                <a:latin typeface="Calibri"/>
              </a:rPr>
              <a:t>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3200400"/>
            <a:ext cx="32461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C1C40"/>
                </a:solidFill>
                <a:latin typeface="Calibri"/>
              </a:rPr>
              <a:t>Sin Control de Acceso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3611879"/>
            <a:ext cx="32461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5C5C"/>
                </a:solidFill>
                <a:latin typeface="Calibri"/>
              </a:rPr>
              <a:t>Cualquier persona podía modificar información sin ningún registro ni trazabilidad de cambios.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8C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Solución Implementada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24128"/>
            <a:ext cx="83210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5C5C"/>
                </a:solidFill>
                <a:latin typeface="Calibri"/>
              </a:rPr>
              <a:t>Sistema web interno con procesamiento automático por OCR — sin costo de licencias.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" y="1463040"/>
            <a:ext cx="2761488" cy="1572768"/>
          </a:xfrm>
          <a:prstGeom prst="roundRect">
            <a:avLst>
              <a:gd name="adj" fmla="val 5000"/>
            </a:avLst>
          </a:prstGeom>
          <a:solidFill>
            <a:srgbClr val="F9F0F3"/>
          </a:solidFill>
          <a:ln w="9525">
            <a:solidFill>
              <a:srgbClr val="DDD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20624" y="1947672"/>
            <a:ext cx="530352" cy="530352"/>
          </a:xfrm>
          <a:prstGeom prst="ellipse">
            <a:avLst/>
          </a:prstGeom>
          <a:solidFill>
            <a:srgbClr val="F0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1929384"/>
            <a:ext cx="53035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8C1C40"/>
                </a:solidFill>
                <a:latin typeface="Calibri"/>
              </a:rPr>
              <a:t>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58191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C1C40"/>
                </a:solidFill>
                <a:latin typeface="Calibri"/>
              </a:rPr>
              <a:t>Procesamiento PDF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1975104"/>
            <a:ext cx="1828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C5C5C"/>
                </a:solidFill>
                <a:latin typeface="Calibri"/>
              </a:rPr>
              <a:t>PDFs multipágina divididos y procesados de forma automática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63824" y="1463040"/>
            <a:ext cx="2761488" cy="1572768"/>
          </a:xfrm>
          <a:prstGeom prst="roundRect">
            <a:avLst>
              <a:gd name="adj" fmla="val 5000"/>
            </a:avLst>
          </a:prstGeom>
          <a:solidFill>
            <a:srgbClr val="F9F0F3"/>
          </a:solidFill>
          <a:ln w="9525">
            <a:solidFill>
              <a:srgbClr val="DDD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28416" y="1947672"/>
            <a:ext cx="530352" cy="530352"/>
          </a:xfrm>
          <a:prstGeom prst="ellipse">
            <a:avLst/>
          </a:prstGeom>
          <a:solidFill>
            <a:srgbClr val="F0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28416" y="1929384"/>
            <a:ext cx="53035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C0392B"/>
                </a:solidFill>
                <a:latin typeface="Calibri"/>
              </a:rPr>
              <a:t>OCR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86784" y="158191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C1C40"/>
                </a:solidFill>
                <a:latin typeface="Calibri"/>
              </a:rPr>
              <a:t>OCR Inteligente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86784" y="1975104"/>
            <a:ext cx="1828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C5C5C"/>
                </a:solidFill>
                <a:latin typeface="Calibri"/>
              </a:rPr>
              <a:t>Extracción automática: nombre, RFC, clave, fecha, institución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71616" y="1463040"/>
            <a:ext cx="2761488" cy="1572768"/>
          </a:xfrm>
          <a:prstGeom prst="roundRect">
            <a:avLst>
              <a:gd name="adj" fmla="val 5000"/>
            </a:avLst>
          </a:prstGeom>
          <a:solidFill>
            <a:srgbClr val="F9F0F3"/>
          </a:solidFill>
          <a:ln w="9525">
            <a:solidFill>
              <a:srgbClr val="DDD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36208" y="1947672"/>
            <a:ext cx="530352" cy="530352"/>
          </a:xfrm>
          <a:prstGeom prst="ellipse">
            <a:avLst/>
          </a:prstGeom>
          <a:solidFill>
            <a:srgbClr val="F0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6208" y="1929384"/>
            <a:ext cx="53035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C49A2A"/>
                </a:solidFill>
                <a:latin typeface="Calibri"/>
              </a:rPr>
              <a:t>&gt;&gt;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94576" y="158191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C1C40"/>
                </a:solidFill>
                <a:latin typeface="Calibri"/>
              </a:rPr>
              <a:t>Búsqueda Avanzada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94576" y="1975104"/>
            <a:ext cx="1828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C5C5C"/>
                </a:solidFill>
                <a:latin typeface="Calibri"/>
              </a:rPr>
              <a:t>Filtros por texto, tipo de movimiento y rango de fechas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6032" y="3182112"/>
            <a:ext cx="2761488" cy="1572768"/>
          </a:xfrm>
          <a:prstGeom prst="roundRect">
            <a:avLst>
              <a:gd name="adj" fmla="val 5000"/>
            </a:avLst>
          </a:prstGeom>
          <a:solidFill>
            <a:srgbClr val="F9F0F3"/>
          </a:solidFill>
          <a:ln w="9525">
            <a:solidFill>
              <a:srgbClr val="DDD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20624" y="3666744"/>
            <a:ext cx="530352" cy="530352"/>
          </a:xfrm>
          <a:prstGeom prst="ellipse">
            <a:avLst/>
          </a:prstGeom>
          <a:solidFill>
            <a:srgbClr val="F0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" y="3648456"/>
            <a:ext cx="53035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2C7BB6"/>
                </a:solidFill>
                <a:latin typeface="Calibri"/>
              </a:rPr>
              <a:t>#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" y="330098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C1C40"/>
                </a:solidFill>
                <a:latin typeface="Calibri"/>
              </a:rPr>
              <a:t>Dashboard en Vivo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3694176"/>
            <a:ext cx="1828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C5C5C"/>
                </a:solidFill>
                <a:latin typeface="Calibri"/>
              </a:rPr>
              <a:t>Estadísticas y gráficas actualizadas en tiempo real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63824" y="3182112"/>
            <a:ext cx="2761488" cy="1572768"/>
          </a:xfrm>
          <a:prstGeom prst="roundRect">
            <a:avLst>
              <a:gd name="adj" fmla="val 5000"/>
            </a:avLst>
          </a:prstGeom>
          <a:solidFill>
            <a:srgbClr val="F9F0F3"/>
          </a:solidFill>
          <a:ln w="9525">
            <a:solidFill>
              <a:srgbClr val="DDD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328416" y="3666744"/>
            <a:ext cx="530352" cy="530352"/>
          </a:xfrm>
          <a:prstGeom prst="ellipse">
            <a:avLst/>
          </a:prstGeom>
          <a:solidFill>
            <a:srgbClr val="F0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28416" y="3648456"/>
            <a:ext cx="53035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217346"/>
                </a:solidFill>
                <a:latin typeface="Calibri"/>
              </a:rPr>
              <a:t>XLS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86784" y="330098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C1C40"/>
                </a:solidFill>
                <a:latin typeface="Calibri"/>
              </a:rPr>
              <a:t>Exportar a Excel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86784" y="3694176"/>
            <a:ext cx="1828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C5C5C"/>
                </a:solidFill>
                <a:latin typeface="Calibri"/>
              </a:rPr>
              <a:t>Descarga de resultados filtrados en formato XLSX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71616" y="3182112"/>
            <a:ext cx="2761488" cy="1572768"/>
          </a:xfrm>
          <a:prstGeom prst="roundRect">
            <a:avLst>
              <a:gd name="adj" fmla="val 5000"/>
            </a:avLst>
          </a:prstGeom>
          <a:solidFill>
            <a:srgbClr val="F9F0F3"/>
          </a:solidFill>
          <a:ln w="9525">
            <a:solidFill>
              <a:srgbClr val="DDD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236208" y="3666744"/>
            <a:ext cx="530352" cy="530352"/>
          </a:xfrm>
          <a:prstGeom prst="ellipse">
            <a:avLst/>
          </a:prstGeom>
          <a:solidFill>
            <a:srgbClr val="F0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36208" y="3648456"/>
            <a:ext cx="53035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7B4B6D"/>
                </a:solidFill>
                <a:latin typeface="Calibri"/>
              </a:rPr>
              <a:t>@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94576" y="330098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C1C40"/>
                </a:solidFill>
                <a:latin typeface="Calibri"/>
              </a:rPr>
              <a:t>Integración Correo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94576" y="3694176"/>
            <a:ext cx="1828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C5C5C"/>
                </a:solidFill>
                <a:latin typeface="Calibri"/>
              </a:rPr>
              <a:t>Abre Outlook web con asunto y datos prellenados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0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5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502920"/>
            <a:ext cx="269748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Infraestructura</a:t>
            </a:r>
          </a:p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Tecnológica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" y="1965960"/>
            <a:ext cx="2697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C96A"/>
                </a:solidFill>
                <a:latin typeface="Calibri"/>
              </a:rPr>
              <a:t>100% software</a:t>
            </a:r>
          </a:p>
          <a:p>
            <a:pPr algn="l"/>
            <a:r>
              <a:rPr sz="1300" b="1" i="0">
                <a:solidFill>
                  <a:srgbClr val="E8C96A"/>
                </a:solidFill>
                <a:latin typeface="Calibri"/>
              </a:rPr>
              <a:t>libre y de código abierto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2834640"/>
            <a:ext cx="2697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090A0"/>
                </a:solidFill>
                <a:latin typeface="Calibri"/>
              </a:rPr>
              <a:t>Sin costos de licencia.</a:t>
            </a:r>
          </a:p>
          <a:p>
            <a:pPr algn="l"/>
            <a:r>
              <a:rPr sz="1100" b="0" i="0">
                <a:solidFill>
                  <a:srgbClr val="B090A0"/>
                </a:solidFill>
                <a:latin typeface="Calibri"/>
              </a:rPr>
              <a:t>Sin dependencia de proveedores externos.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3749039"/>
            <a:ext cx="2697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0A0AC"/>
                </a:solidFill>
                <a:latin typeface="Calibri"/>
              </a:rPr>
              <a:t>Servidor en PC de la oficina.</a:t>
            </a:r>
          </a:p>
          <a:p>
            <a:pPr algn="l"/>
            <a:r>
              <a:rPr sz="1100" b="0" i="0">
                <a:solidFill>
                  <a:srgbClr val="C0A0AC"/>
                </a:solidFill>
                <a:latin typeface="Calibri"/>
              </a:rPr>
              <a:t>Datos 100% bajo control interno.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64592"/>
            <a:ext cx="2788920" cy="14447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64992" y="256032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C49A2A"/>
                </a:solidFill>
                <a:latin typeface="Calibri"/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64992" y="566928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C1C40"/>
                </a:solidFill>
                <a:latin typeface="Calibri"/>
              </a:rPr>
              <a:t>Python + FastAPI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4992" y="987552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Calibri"/>
              </a:rPr>
              <a:t>Servidor web de alto rendimiento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64592"/>
            <a:ext cx="2788920" cy="14447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56032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C49A2A"/>
                </a:solidFill>
                <a:latin typeface="Calibri"/>
              </a:rPr>
              <a:t>BASE DE DATOS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566928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C1C40"/>
                </a:solidFill>
                <a:latin typeface="Calibri"/>
              </a:rPr>
              <a:t>SQLite / PostgreSQL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987552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Calibri"/>
              </a:rPr>
              <a:t>Almacenamiento estructurado y seguro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1746504"/>
            <a:ext cx="2788920" cy="14447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64992" y="1837943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C49A2A"/>
                </a:solidFill>
                <a:latin typeface="Calibri"/>
              </a:rPr>
              <a:t>OCR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64992" y="214884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C1C40"/>
                </a:solidFill>
                <a:latin typeface="Calibri"/>
              </a:rPr>
              <a:t>PyMuPDF + Tesseract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64992" y="2569464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Calibri"/>
              </a:rPr>
              <a:t>Extracción automática de texto en PDF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1746504"/>
            <a:ext cx="2788920" cy="14447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837943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C49A2A"/>
                </a:solidFill>
                <a:latin typeface="Calibri"/>
              </a:rPr>
              <a:t>INTERFAZ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14884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C1C40"/>
                </a:solidFill>
                <a:latin typeface="Calibri"/>
              </a:rPr>
              <a:t>HTML5 + Bootstrap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569464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Calibri"/>
              </a:rPr>
              <a:t>Accesible desde cualquier navegador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0" y="3328416"/>
            <a:ext cx="2788920" cy="14447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64992" y="3419856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C49A2A"/>
                </a:solidFill>
                <a:latin typeface="Calibri"/>
              </a:rPr>
              <a:t>SEGURIDAD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64992" y="3730752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C1C40"/>
                </a:solidFill>
                <a:latin typeface="Calibri"/>
              </a:rPr>
              <a:t>bcrypt + Sesiones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64992" y="4151376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Calibri"/>
              </a:rPr>
              <a:t>Contraseñas cifradas, expiración auto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44768" y="3328416"/>
            <a:ext cx="2788920" cy="14447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419856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C49A2A"/>
                </a:solidFill>
                <a:latin typeface="Calibri"/>
              </a:rPr>
              <a:t>SERVIDOR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730752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C1C40"/>
                </a:solidFill>
                <a:latin typeface="Calibri"/>
              </a:rPr>
              <a:t>PC Local Red Interna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151376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Calibri"/>
              </a:rPr>
              <a:t>Sin exposición a internet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8C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8686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mbria"/>
              </a:rPr>
              <a:t>¿Cómo Funciona? Flujo del Proceso</a:t>
            </a:r>
          </a:p>
        </p:txBody>
      </p:sp>
      <p:sp>
        <p:nvSpPr>
          <p:cNvPr id="4" name="Oval 3"/>
          <p:cNvSpPr/>
          <p:nvPr/>
        </p:nvSpPr>
        <p:spPr>
          <a:xfrm>
            <a:off x="699516" y="1115568"/>
            <a:ext cx="566928" cy="566928"/>
          </a:xfrm>
          <a:prstGeom prst="ellipse">
            <a:avLst/>
          </a:prstGeom>
          <a:solidFill>
            <a:srgbClr val="8C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9516" y="111556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783080"/>
            <a:ext cx="1508760" cy="3063240"/>
          </a:xfrm>
          <a:prstGeom prst="roundRect">
            <a:avLst>
              <a:gd name="adj" fmla="val 5000"/>
            </a:avLst>
          </a:prstGeom>
          <a:solidFill>
            <a:srgbClr val="F9F0F3"/>
          </a:solidFill>
          <a:ln w="9525">
            <a:solidFill>
              <a:srgbClr val="DDD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892807"/>
            <a:ext cx="1380743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8C1C40"/>
                </a:solidFill>
                <a:latin typeface="Calibri"/>
              </a:rPr>
              <a:t>Cargar 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487168"/>
            <a:ext cx="13258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C5C5C"/>
                </a:solidFill>
                <a:latin typeface="Calibri"/>
              </a:rPr>
              <a:t>El usuario sube el PDF</a:t>
            </a:r>
          </a:p>
          <a:p>
            <a:pPr algn="ctr"/>
            <a:r>
              <a:rPr sz="1050" b="0" i="0">
                <a:solidFill>
                  <a:srgbClr val="5C5C5C"/>
                </a:solidFill>
                <a:latin typeface="Calibri"/>
              </a:rPr>
              <a:t>multipagina al sistema</a:t>
            </a:r>
          </a:p>
        </p:txBody>
      </p:sp>
      <p:sp>
        <p:nvSpPr>
          <p:cNvPr id="9" name="Rectangle 8"/>
          <p:cNvSpPr/>
          <p:nvPr/>
        </p:nvSpPr>
        <p:spPr>
          <a:xfrm>
            <a:off x="1773936" y="2331720"/>
            <a:ext cx="182880" cy="36576"/>
          </a:xfrm>
          <a:prstGeom prst="rect">
            <a:avLst/>
          </a:prstGeom>
          <a:solidFill>
            <a:srgbClr val="C0A0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65376" y="2231136"/>
            <a:ext cx="14630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B090A0"/>
                </a:solidFill>
                <a:latin typeface="Calibri"/>
              </a:rPr>
              <a:t>&gt;</a:t>
            </a:r>
          </a:p>
        </p:txBody>
      </p:sp>
      <p:sp>
        <p:nvSpPr>
          <p:cNvPr id="11" name="Oval 10"/>
          <p:cNvSpPr/>
          <p:nvPr/>
        </p:nvSpPr>
        <p:spPr>
          <a:xfrm>
            <a:off x="2455164" y="1115568"/>
            <a:ext cx="566928" cy="566928"/>
          </a:xfrm>
          <a:prstGeom prst="ellipse">
            <a:avLst/>
          </a:prstGeom>
          <a:solidFill>
            <a:srgbClr val="7B4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55164" y="111556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84248" y="1783080"/>
            <a:ext cx="1508760" cy="3063240"/>
          </a:xfrm>
          <a:prstGeom prst="roundRect">
            <a:avLst>
              <a:gd name="adj" fmla="val 5000"/>
            </a:avLst>
          </a:prstGeom>
          <a:solidFill>
            <a:srgbClr val="F9F0F3"/>
          </a:solidFill>
          <a:ln w="9525">
            <a:solidFill>
              <a:srgbClr val="DDD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48255" y="1892807"/>
            <a:ext cx="1380743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8C1C40"/>
                </a:solidFill>
                <a:latin typeface="Calibri"/>
              </a:rPr>
              <a:t>Dividir Paginas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75688" y="2487168"/>
            <a:ext cx="13258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C5C5C"/>
                </a:solidFill>
                <a:latin typeface="Calibri"/>
              </a:rPr>
              <a:t>El sistema divide cada</a:t>
            </a:r>
          </a:p>
          <a:p>
            <a:pPr algn="ctr"/>
            <a:r>
              <a:rPr sz="1050" b="0" i="0">
                <a:solidFill>
                  <a:srgbClr val="5C5C5C"/>
                </a:solidFill>
                <a:latin typeface="Calibri"/>
              </a:rPr>
              <a:t>hoja automaticamente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29584" y="2331720"/>
            <a:ext cx="182880" cy="36576"/>
          </a:xfrm>
          <a:prstGeom prst="rect">
            <a:avLst/>
          </a:prstGeom>
          <a:solidFill>
            <a:srgbClr val="C0A0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21024" y="2231136"/>
            <a:ext cx="14630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B090A0"/>
                </a:solidFill>
                <a:latin typeface="Calibri"/>
              </a:rPr>
              <a:t>&gt;</a:t>
            </a:r>
          </a:p>
        </p:txBody>
      </p:sp>
      <p:sp>
        <p:nvSpPr>
          <p:cNvPr id="18" name="Oval 17"/>
          <p:cNvSpPr/>
          <p:nvPr/>
        </p:nvSpPr>
        <p:spPr>
          <a:xfrm>
            <a:off x="4210812" y="1115568"/>
            <a:ext cx="566928" cy="566928"/>
          </a:xfrm>
          <a:prstGeom prst="ellipse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10812" y="111556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39896" y="1783080"/>
            <a:ext cx="1508760" cy="3063240"/>
          </a:xfrm>
          <a:prstGeom prst="roundRect">
            <a:avLst>
              <a:gd name="adj" fmla="val 5000"/>
            </a:avLst>
          </a:prstGeom>
          <a:solidFill>
            <a:srgbClr val="F9F0F3"/>
          </a:solidFill>
          <a:ln w="9525">
            <a:solidFill>
              <a:srgbClr val="DDD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03904" y="1892807"/>
            <a:ext cx="1380743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8C1C40"/>
                </a:solidFill>
                <a:latin typeface="Calibri"/>
              </a:rPr>
              <a:t>OCR Extrae Datos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31335" y="2487168"/>
            <a:ext cx="13258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C5C5C"/>
                </a:solidFill>
                <a:latin typeface="Calibri"/>
              </a:rPr>
              <a:t>Nombre, RFC, clave,</a:t>
            </a:r>
          </a:p>
          <a:p>
            <a:pPr algn="ctr"/>
            <a:r>
              <a:rPr sz="1050" b="0" i="0">
                <a:solidFill>
                  <a:srgbClr val="5C5C5C"/>
                </a:solidFill>
                <a:latin typeface="Calibri"/>
              </a:rPr>
              <a:t>fecha e institucion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85232" y="2331720"/>
            <a:ext cx="182880" cy="36576"/>
          </a:xfrm>
          <a:prstGeom prst="rect">
            <a:avLst/>
          </a:prstGeom>
          <a:solidFill>
            <a:srgbClr val="C0A0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76672" y="2231136"/>
            <a:ext cx="14630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B090A0"/>
                </a:solidFill>
                <a:latin typeface="Calibri"/>
              </a:rPr>
              <a:t>&gt;</a:t>
            </a:r>
          </a:p>
        </p:txBody>
      </p:sp>
      <p:sp>
        <p:nvSpPr>
          <p:cNvPr id="25" name="Oval 24"/>
          <p:cNvSpPr/>
          <p:nvPr/>
        </p:nvSpPr>
        <p:spPr>
          <a:xfrm>
            <a:off x="5966459" y="1115568"/>
            <a:ext cx="566928" cy="566928"/>
          </a:xfrm>
          <a:prstGeom prst="ellipse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66459" y="111556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95544" y="1783080"/>
            <a:ext cx="1508760" cy="3063240"/>
          </a:xfrm>
          <a:prstGeom prst="roundRect">
            <a:avLst>
              <a:gd name="adj" fmla="val 5000"/>
            </a:avLst>
          </a:prstGeom>
          <a:solidFill>
            <a:srgbClr val="F9F0F3"/>
          </a:solidFill>
          <a:ln w="9525">
            <a:solidFill>
              <a:srgbClr val="DDD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59552" y="1892807"/>
            <a:ext cx="1380743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8C1C40"/>
                </a:solidFill>
                <a:latin typeface="Calibri"/>
              </a:rPr>
              <a:t>Almacenar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86983" y="2487168"/>
            <a:ext cx="13258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C5C5C"/>
                </a:solidFill>
                <a:latin typeface="Calibri"/>
              </a:rPr>
              <a:t>Datos guardados y</a:t>
            </a:r>
          </a:p>
          <a:p>
            <a:pPr algn="ctr"/>
            <a:r>
              <a:rPr sz="1050" b="0" i="0">
                <a:solidFill>
                  <a:srgbClr val="5C5C5C"/>
                </a:solidFill>
                <a:latin typeface="Calibri"/>
              </a:rPr>
              <a:t>disponibles al instante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40880" y="2331720"/>
            <a:ext cx="182880" cy="36576"/>
          </a:xfrm>
          <a:prstGeom prst="rect">
            <a:avLst/>
          </a:prstGeom>
          <a:solidFill>
            <a:srgbClr val="C0A0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0" y="2231136"/>
            <a:ext cx="14630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B090A0"/>
                </a:solidFill>
                <a:latin typeface="Calibri"/>
              </a:rPr>
              <a:t>&gt;</a:t>
            </a:r>
          </a:p>
        </p:txBody>
      </p:sp>
      <p:sp>
        <p:nvSpPr>
          <p:cNvPr id="32" name="Oval 31"/>
          <p:cNvSpPr/>
          <p:nvPr/>
        </p:nvSpPr>
        <p:spPr>
          <a:xfrm>
            <a:off x="7722108" y="1115568"/>
            <a:ext cx="566928" cy="566928"/>
          </a:xfrm>
          <a:prstGeom prst="ellipse">
            <a:avLst/>
          </a:prstGeom>
          <a:solidFill>
            <a:srgbClr val="14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22108" y="111556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51192" y="1783080"/>
            <a:ext cx="1508760" cy="3063240"/>
          </a:xfrm>
          <a:prstGeom prst="roundRect">
            <a:avLst>
              <a:gd name="adj" fmla="val 5000"/>
            </a:avLst>
          </a:prstGeom>
          <a:solidFill>
            <a:srgbClr val="F9F0F3"/>
          </a:solidFill>
          <a:ln w="9525">
            <a:solidFill>
              <a:srgbClr val="DDD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0" y="1892807"/>
            <a:ext cx="1380743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8C1C40"/>
                </a:solidFill>
                <a:latin typeface="Calibri"/>
              </a:rPr>
              <a:t>Consultar/Export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42631" y="2487168"/>
            <a:ext cx="13258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C5C5C"/>
                </a:solidFill>
                <a:latin typeface="Calibri"/>
              </a:rPr>
              <a:t>Busqueda, edicion,</a:t>
            </a:r>
          </a:p>
          <a:p>
            <a:pPr algn="ctr"/>
            <a:r>
              <a:rPr sz="1050" b="0" i="0">
                <a:solidFill>
                  <a:srgbClr val="5C5C5C"/>
                </a:solidFill>
                <a:latin typeface="Calibri"/>
              </a:rPr>
              <a:t>Excel y correo en 1 clic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0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4663440"/>
            <a:ext cx="8412480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8C1C40"/>
                </a:solidFill>
                <a:latin typeface="Calibri"/>
              </a:rPr>
              <a:t>Todo el proceso ocurre dentro de la red interna — sin internet requerido.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0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8C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Control de Acceso por Roles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" y="1097280"/>
            <a:ext cx="2029968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6032" y="1097280"/>
            <a:ext cx="2029968" cy="804672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1207007"/>
            <a:ext cx="2029968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Búsqueda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2011680"/>
            <a:ext cx="176479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  <a:latin typeface="Calibri"/>
              </a:rPr>
              <a:t>✓  Buscar y consultar registros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2724912"/>
            <a:ext cx="176479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  <a:latin typeface="Calibri"/>
              </a:rPr>
              <a:t>✓  Aplicar filtros avanzados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3438144"/>
            <a:ext cx="176479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  <a:latin typeface="Calibri"/>
              </a:rPr>
              <a:t>✓  Exportar resultados a Excel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4151376"/>
            <a:ext cx="176479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  <a:latin typeface="Calibri"/>
              </a:rPr>
              <a:t>✓  Enviar avisos por correo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32304" y="1097280"/>
            <a:ext cx="2029968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32304" y="1097280"/>
            <a:ext cx="2029968" cy="804672"/>
          </a:xfrm>
          <a:prstGeom prst="rect">
            <a:avLst/>
          </a:prstGeom>
          <a:solidFill>
            <a:srgbClr val="14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32304" y="1207007"/>
            <a:ext cx="2029968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Adjuntar Datos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9464" y="2011680"/>
            <a:ext cx="176479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  <a:latin typeface="Calibri"/>
              </a:rPr>
              <a:t>✓  Todo lo de Búsqueda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9464" y="2724912"/>
            <a:ext cx="176479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  <a:latin typeface="Calibri"/>
              </a:rPr>
              <a:t>✓  Subir nuevos PDFs al sistema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9464" y="3438144"/>
            <a:ext cx="176479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  <a:latin typeface="Calibri"/>
              </a:rPr>
              <a:t>✓  Editar y corregir registros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9464" y="4151376"/>
            <a:ext cx="176479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  <a:latin typeface="Calibri"/>
              </a:rPr>
              <a:t>✓  Renombrar archivos PDF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08576" y="1097280"/>
            <a:ext cx="2029968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08576" y="1097280"/>
            <a:ext cx="2029968" cy="804672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8576" y="1207007"/>
            <a:ext cx="2029968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Dashboards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45736" y="2011680"/>
            <a:ext cx="176479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  <a:latin typeface="Calibri"/>
              </a:rPr>
              <a:t>✓  Todo lo de Búsqueda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45736" y="2724912"/>
            <a:ext cx="176479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  <a:latin typeface="Calibri"/>
              </a:rPr>
              <a:t>✓  Estadísticas en tiempo real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45736" y="3438144"/>
            <a:ext cx="176479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  <a:latin typeface="Calibri"/>
              </a:rPr>
              <a:t>✓  Gráficas por tipo y período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45736" y="4151376"/>
            <a:ext cx="176479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  <a:latin typeface="Calibri"/>
              </a:rPr>
              <a:t>✓  Análisis por institución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84848" y="1097280"/>
            <a:ext cx="2029968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84848" y="1097280"/>
            <a:ext cx="2029968" cy="804672"/>
          </a:xfrm>
          <a:prstGeom prst="rect">
            <a:avLst/>
          </a:prstGeom>
          <a:solidFill>
            <a:srgbClr val="8C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84848" y="1207007"/>
            <a:ext cx="2029968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Administrador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22008" y="2011680"/>
            <a:ext cx="176479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  <a:latin typeface="Calibri"/>
              </a:rPr>
              <a:t>✓  Acceso total al sistema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2008" y="2724912"/>
            <a:ext cx="176479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  <a:latin typeface="Calibri"/>
              </a:rPr>
              <a:t>✓  Gestión de usuarios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22008" y="3438144"/>
            <a:ext cx="176479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  <a:latin typeface="Calibri"/>
              </a:rPr>
              <a:t>✓  Asignar y modificar roles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22008" y="4151376"/>
            <a:ext cx="176479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  <a:latin typeface="Calibri"/>
              </a:rPr>
              <a:t>✓  Activar / desactivar cuentas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8C1C40"/>
                </a:solidFill>
                <a:latin typeface="Calibri"/>
              </a:rPr>
              <a:t>Un usuario puede tener multiples roles asignados de forma simultanea.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8C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Seguridad de la Información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078992"/>
            <a:ext cx="8503920" cy="566928"/>
          </a:xfrm>
          <a:prstGeom prst="roundRect">
            <a:avLst>
              <a:gd name="adj" fmla="val 5000"/>
            </a:avLst>
          </a:prstGeom>
          <a:solidFill>
            <a:srgbClr val="8C1C40"/>
          </a:solidFill>
          <a:ln w="9525">
            <a:solidFill>
              <a:srgbClr val="8C1C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E8C96A"/>
                </a:solidFill>
                <a:latin typeface="Calibri"/>
              </a:rPr>
              <a:t>Los datos NUNCA salen de las instalaciones de la Secretaría.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" y="1828800"/>
            <a:ext cx="2788920" cy="1371600"/>
          </a:xfrm>
          <a:prstGeom prst="roundRect">
            <a:avLst>
              <a:gd name="adj" fmla="val 5000"/>
            </a:avLst>
          </a:prstGeom>
          <a:solidFill>
            <a:srgbClr val="F9F0F3"/>
          </a:solidFill>
          <a:ln w="9525">
            <a:solidFill>
              <a:srgbClr val="DDD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20624" y="2231136"/>
            <a:ext cx="512064" cy="512064"/>
          </a:xfrm>
          <a:prstGeom prst="ellipse">
            <a:avLst/>
          </a:prstGeom>
          <a:solidFill>
            <a:srgbClr val="F0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2212848"/>
            <a:ext cx="51206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1A5276"/>
                </a:solidFill>
                <a:latin typeface="Calibri"/>
              </a:rPr>
              <a:t>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1938528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C1C40"/>
                </a:solidFill>
                <a:latin typeface="Calibri"/>
              </a:rPr>
              <a:t>Red Local Aislada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331720"/>
            <a:ext cx="1874519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C5C5C"/>
                </a:solidFill>
                <a:latin typeface="Calibri"/>
              </a:rPr>
              <a:t>Servidor en red interna. Sin acceso desde Internet.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1828800"/>
            <a:ext cx="2788920" cy="1371600"/>
          </a:xfrm>
          <a:prstGeom prst="roundRect">
            <a:avLst>
              <a:gd name="adj" fmla="val 5000"/>
            </a:avLst>
          </a:prstGeom>
          <a:solidFill>
            <a:srgbClr val="F9F0F3"/>
          </a:solidFill>
          <a:ln w="9525">
            <a:solidFill>
              <a:srgbClr val="DDD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364992" y="2231136"/>
            <a:ext cx="512064" cy="512064"/>
          </a:xfrm>
          <a:prstGeom prst="ellipse">
            <a:avLst/>
          </a:prstGeom>
          <a:solidFill>
            <a:srgbClr val="F0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64992" y="2212848"/>
            <a:ext cx="51206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8C1C40"/>
                </a:solidFill>
                <a:latin typeface="Calibri"/>
              </a:rPr>
              <a:t>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1938528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C1C40"/>
                </a:solidFill>
                <a:latin typeface="Calibri"/>
              </a:rPr>
              <a:t>Autenticación Obligatoria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2331720"/>
            <a:ext cx="1874519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C5C5C"/>
                </a:solidFill>
                <a:latin typeface="Calibri"/>
              </a:rPr>
              <a:t>Cada usuario requiere su contraseña para ingresar.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4768" y="1828800"/>
            <a:ext cx="2788920" cy="1371600"/>
          </a:xfrm>
          <a:prstGeom prst="roundRect">
            <a:avLst>
              <a:gd name="adj" fmla="val 5000"/>
            </a:avLst>
          </a:prstGeom>
          <a:solidFill>
            <a:srgbClr val="F9F0F3"/>
          </a:solidFill>
          <a:ln w="9525">
            <a:solidFill>
              <a:srgbClr val="DDD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09360" y="2231136"/>
            <a:ext cx="512064" cy="512064"/>
          </a:xfrm>
          <a:prstGeom prst="ellipse">
            <a:avLst/>
          </a:prstGeom>
          <a:solidFill>
            <a:srgbClr val="F0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212848"/>
            <a:ext cx="51206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C49A2A"/>
                </a:solidFill>
                <a:latin typeface="Calibri"/>
              </a:rPr>
              <a:t>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8" y="1938528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C1C40"/>
                </a:solidFill>
                <a:latin typeface="Calibri"/>
              </a:rPr>
              <a:t>Contraseñas Cifradas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2008" y="2331720"/>
            <a:ext cx="1874519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C5C5C"/>
                </a:solidFill>
                <a:latin typeface="Calibri"/>
              </a:rPr>
              <a:t>Algoritmo bcrypt: imposible revertir la contraseña.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6032" y="3355848"/>
            <a:ext cx="2788920" cy="1371600"/>
          </a:xfrm>
          <a:prstGeom prst="roundRect">
            <a:avLst>
              <a:gd name="adj" fmla="val 5000"/>
            </a:avLst>
          </a:prstGeom>
          <a:solidFill>
            <a:srgbClr val="F9F0F3"/>
          </a:solidFill>
          <a:ln w="9525">
            <a:solidFill>
              <a:srgbClr val="DDD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20624" y="3758184"/>
            <a:ext cx="512064" cy="512064"/>
          </a:xfrm>
          <a:prstGeom prst="ellipse">
            <a:avLst/>
          </a:prstGeom>
          <a:solidFill>
            <a:srgbClr val="F0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624" y="3739896"/>
            <a:ext cx="51206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2C5F2D"/>
                </a:solidFill>
                <a:latin typeface="Calibri"/>
              </a:rPr>
              <a:t>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1" y="3465576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C1C40"/>
                </a:solidFill>
                <a:latin typeface="Calibri"/>
              </a:rPr>
              <a:t>Reglas de Seguridad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1" y="3858768"/>
            <a:ext cx="1874519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C5C5C"/>
                </a:solidFill>
                <a:latin typeface="Calibri"/>
              </a:rPr>
              <a:t>8+ caracteres, mayúsculas, números y símbolos especiales.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0" y="3355848"/>
            <a:ext cx="2788920" cy="1371600"/>
          </a:xfrm>
          <a:prstGeom prst="roundRect">
            <a:avLst>
              <a:gd name="adj" fmla="val 5000"/>
            </a:avLst>
          </a:prstGeom>
          <a:solidFill>
            <a:srgbClr val="F9F0F3"/>
          </a:solidFill>
          <a:ln w="9525">
            <a:solidFill>
              <a:srgbClr val="DDD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364992" y="3758184"/>
            <a:ext cx="512064" cy="512064"/>
          </a:xfrm>
          <a:prstGeom prst="ellipse">
            <a:avLst/>
          </a:prstGeom>
          <a:solidFill>
            <a:srgbClr val="F0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64992" y="3739896"/>
            <a:ext cx="51206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7B4B6D"/>
                </a:solidFill>
                <a:latin typeface="Calibri"/>
              </a:rPr>
              <a:t>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77639" y="3465576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C1C40"/>
                </a:solidFill>
                <a:latin typeface="Calibri"/>
              </a:rPr>
              <a:t>Sesión Limitada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77639" y="3858768"/>
            <a:ext cx="1874519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C5C5C"/>
                </a:solidFill>
                <a:latin typeface="Calibri"/>
              </a:rPr>
              <a:t>Expiración automática tras 8 horas de inactividad.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44768" y="3355848"/>
            <a:ext cx="2788920" cy="1371600"/>
          </a:xfrm>
          <a:prstGeom prst="roundRect">
            <a:avLst>
              <a:gd name="adj" fmla="val 5000"/>
            </a:avLst>
          </a:prstGeom>
          <a:solidFill>
            <a:srgbClr val="F9F0F3"/>
          </a:solidFill>
          <a:ln w="9525">
            <a:solidFill>
              <a:srgbClr val="DDD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309360" y="3758184"/>
            <a:ext cx="512064" cy="512064"/>
          </a:xfrm>
          <a:prstGeom prst="ellipse">
            <a:avLst/>
          </a:prstGeom>
          <a:solidFill>
            <a:srgbClr val="F0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3739896"/>
            <a:ext cx="51206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1A7A4A"/>
                </a:solidFill>
                <a:latin typeface="Calibri"/>
              </a:rPr>
              <a:t>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22008" y="3465576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C1C40"/>
                </a:solidFill>
                <a:latin typeface="Calibri"/>
              </a:rPr>
              <a:t>Trazabilidad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22008" y="3858768"/>
            <a:ext cx="1874519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C5C5C"/>
                </a:solidFill>
                <a:latin typeface="Calibri"/>
              </a:rPr>
              <a:t>Registro de quién creó cada usuario y cuándo fue activado.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0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8C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mbria"/>
              </a:rPr>
              <a:t>Instalación en Red Local de Oficina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" y="1188720"/>
            <a:ext cx="242316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7772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0" i="0">
                <a:solidFill>
                  <a:srgbClr val="8C1C40"/>
                </a:solidFill>
                <a:latin typeface="Calibri"/>
              </a:rPr>
              <a:t>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057400"/>
            <a:ext cx="2423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8C1C40"/>
                </a:solidFill>
                <a:latin typeface="Calibri"/>
              </a:rPr>
              <a:t>8 Usuarios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2487168"/>
            <a:ext cx="24231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C5C5C"/>
                </a:solidFill>
                <a:latin typeface="Calibri"/>
              </a:rPr>
              <a:t>Acceso simultáneo</a:t>
            </a:r>
          </a:p>
          <a:p>
            <a:pPr algn="ctr"/>
            <a:r>
              <a:rPr sz="1100" b="0" i="0">
                <a:solidFill>
                  <a:srgbClr val="5C5C5C"/>
                </a:solidFill>
                <a:latin typeface="Calibri"/>
              </a:rPr>
              <a:t>desde sus PCs de trabajo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2240280"/>
            <a:ext cx="475488" cy="36576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99232" y="2084831"/>
            <a:ext cx="1828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C49A2A"/>
                </a:solidFill>
                <a:latin typeface="Calibri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27248" y="1188720"/>
            <a:ext cx="2889504" cy="2560320"/>
          </a:xfrm>
          <a:prstGeom prst="roundRect">
            <a:avLst>
              <a:gd name="adj" fmla="val 6000"/>
            </a:avLst>
          </a:prstGeom>
          <a:solidFill>
            <a:srgbClr val="5A1128"/>
          </a:solidFill>
          <a:ln w="9525">
            <a:solidFill>
              <a:srgbClr val="8C1C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1325880"/>
            <a:ext cx="7315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7248" y="2011680"/>
            <a:ext cx="288950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PC SERVIDOR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2423160"/>
            <a:ext cx="28895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E8C96A"/>
                </a:solidFill>
                <a:latin typeface="Calibri"/>
              </a:rPr>
              <a:t>HP EliteDesk 705 G4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7248" y="2724912"/>
            <a:ext cx="28895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C0A0AC"/>
                </a:solidFill>
                <a:latin typeface="Calibri"/>
              </a:rPr>
              <a:t>8 GB RAM  ·  466 GB  ·  Windows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27248" y="3017520"/>
            <a:ext cx="288950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E8C96A"/>
                </a:solidFill>
                <a:latin typeface="Calibri"/>
              </a:rPr>
              <a:t>IP: 172.30.14.134:8000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16752" y="2240280"/>
            <a:ext cx="475488" cy="36576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4" y="2084831"/>
            <a:ext cx="1828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C49A2A"/>
                </a:solidFill>
                <a:latin typeface="Calibri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1188720"/>
            <a:ext cx="2395728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234440"/>
            <a:ext cx="239572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8C1C40"/>
                </a:solidFill>
                <a:latin typeface="Calibri"/>
              </a:rPr>
              <a:t>Ventajas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709928"/>
            <a:ext cx="21945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  <a:latin typeface="Calibri"/>
              </a:rPr>
              <a:t>✓  Sin costo mensual de hosting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167128"/>
            <a:ext cx="21945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  <a:latin typeface="Calibri"/>
              </a:rPr>
              <a:t>✓  Datos internos, nunca en la nube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624328"/>
            <a:ext cx="21945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  <a:latin typeface="Calibri"/>
              </a:rPr>
              <a:t>✓  Funciona sin internet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081528"/>
            <a:ext cx="21945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  <a:latin typeface="Calibri"/>
              </a:rPr>
              <a:t>✓  Arranque automático al encender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538728"/>
            <a:ext cx="21945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C2C2C"/>
                </a:solidFill>
                <a:latin typeface="Calibri"/>
              </a:rPr>
              <a:t>✓  Acceso desde toda la oficina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F0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114800"/>
            <a:ext cx="8412480" cy="1028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8C1C40"/>
                </a:solidFill>
                <a:latin typeface="Calibri"/>
              </a:rPr>
              <a:t>Disponibilidad 24/7 — El servidor inicia automaticamente al encender la PC.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8C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Capacidades Demostradas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" y="1170432"/>
            <a:ext cx="2788920" cy="1719072"/>
          </a:xfrm>
          <a:prstGeom prst="roundRect">
            <a:avLst>
              <a:gd name="adj" fmla="val 5000"/>
            </a:avLst>
          </a:prstGeom>
          <a:solidFill>
            <a:srgbClr val="F9F0F3"/>
          </a:solidFill>
          <a:ln w="9525">
            <a:solidFill>
              <a:srgbClr val="DDD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1335024"/>
            <a:ext cx="278892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600" b="1" i="0">
                <a:solidFill>
                  <a:srgbClr val="8C1C40"/>
                </a:solidFill>
                <a:latin typeface="Cambria"/>
              </a:rPr>
              <a:t>Miles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2212848"/>
            <a:ext cx="24688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C5C5C"/>
                </a:solidFill>
                <a:latin typeface="Calibri"/>
              </a:rPr>
              <a:t>Documentos</a:t>
            </a:r>
          </a:p>
          <a:p>
            <a:pPr algn="ctr"/>
            <a:r>
              <a:rPr sz="1200" b="0" i="0">
                <a:solidFill>
                  <a:srgbClr val="5C5C5C"/>
                </a:solidFill>
                <a:latin typeface="Calibri"/>
              </a:rPr>
              <a:t>procesados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170432"/>
            <a:ext cx="2788920" cy="1719072"/>
          </a:xfrm>
          <a:prstGeom prst="roundRect">
            <a:avLst>
              <a:gd name="adj" fmla="val 5000"/>
            </a:avLst>
          </a:prstGeom>
          <a:solidFill>
            <a:srgbClr val="F9F0F3"/>
          </a:solidFill>
          <a:ln w="9525">
            <a:solidFill>
              <a:srgbClr val="DDD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1335024"/>
            <a:ext cx="278892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600" b="1" i="0">
                <a:solidFill>
                  <a:srgbClr val="1A5276"/>
                </a:solidFill>
                <a:latin typeface="Cambria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64992" y="2212848"/>
            <a:ext cx="24688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C5C5C"/>
                </a:solidFill>
                <a:latin typeface="Calibri"/>
              </a:rPr>
              <a:t>Usuarios</a:t>
            </a:r>
          </a:p>
          <a:p>
            <a:pPr algn="ctr"/>
            <a:r>
              <a:rPr sz="1200" b="0" i="0">
                <a:solidFill>
                  <a:srgbClr val="5C5C5C"/>
                </a:solidFill>
                <a:latin typeface="Calibri"/>
              </a:rPr>
              <a:t>simultaneos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1170432"/>
            <a:ext cx="2788920" cy="1719072"/>
          </a:xfrm>
          <a:prstGeom prst="roundRect">
            <a:avLst>
              <a:gd name="adj" fmla="val 5000"/>
            </a:avLst>
          </a:prstGeom>
          <a:solidFill>
            <a:srgbClr val="F9F0F3"/>
          </a:solidFill>
          <a:ln w="9525">
            <a:solidFill>
              <a:srgbClr val="DDD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4768" y="1335024"/>
            <a:ext cx="278892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600" b="1" i="0">
                <a:solidFill>
                  <a:srgbClr val="C49A2A"/>
                </a:solidFill>
                <a:latin typeface="Cambria"/>
              </a:rPr>
              <a:t>&lt; 5s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212848"/>
            <a:ext cx="24688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C5C5C"/>
                </a:solidFill>
                <a:latin typeface="Calibri"/>
              </a:rPr>
              <a:t>Por pagina</a:t>
            </a:r>
          </a:p>
          <a:p>
            <a:pPr algn="ctr"/>
            <a:r>
              <a:rPr sz="1200" b="0" i="0">
                <a:solidFill>
                  <a:srgbClr val="5C5C5C"/>
                </a:solidFill>
                <a:latin typeface="Calibri"/>
              </a:rPr>
              <a:t>con OCR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" y="3072384"/>
            <a:ext cx="2788920" cy="1719072"/>
          </a:xfrm>
          <a:prstGeom prst="roundRect">
            <a:avLst>
              <a:gd name="adj" fmla="val 5000"/>
            </a:avLst>
          </a:prstGeom>
          <a:solidFill>
            <a:srgbClr val="F9F0F3"/>
          </a:solidFill>
          <a:ln w="9525">
            <a:solidFill>
              <a:srgbClr val="DDD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" y="3236976"/>
            <a:ext cx="278892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600" b="1" i="0">
                <a:solidFill>
                  <a:srgbClr val="145A32"/>
                </a:solidFill>
                <a:latin typeface="Cambria"/>
              </a:rPr>
              <a:t>$0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" y="4114800"/>
            <a:ext cx="24688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C5C5C"/>
                </a:solidFill>
                <a:latin typeface="Calibri"/>
              </a:rPr>
              <a:t>Costo en</a:t>
            </a:r>
          </a:p>
          <a:p>
            <a:pPr algn="ctr"/>
            <a:r>
              <a:rPr sz="1200" b="0" i="0">
                <a:solidFill>
                  <a:srgbClr val="5C5C5C"/>
                </a:solidFill>
                <a:latin typeface="Calibri"/>
              </a:rPr>
              <a:t>licencias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0" y="3072384"/>
            <a:ext cx="2788920" cy="1719072"/>
          </a:xfrm>
          <a:prstGeom prst="roundRect">
            <a:avLst>
              <a:gd name="adj" fmla="val 5000"/>
            </a:avLst>
          </a:prstGeom>
          <a:solidFill>
            <a:srgbClr val="F9F0F3"/>
          </a:solidFill>
          <a:ln w="9525">
            <a:solidFill>
              <a:srgbClr val="DDD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3236976"/>
            <a:ext cx="278892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600" b="1" i="0">
                <a:solidFill>
                  <a:srgbClr val="7B4B6D"/>
                </a:solidFill>
                <a:latin typeface="Cambr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64992" y="4114800"/>
            <a:ext cx="24688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C5C5C"/>
                </a:solidFill>
                <a:latin typeface="Calibri"/>
              </a:rPr>
              <a:t>Niveles de</a:t>
            </a:r>
          </a:p>
          <a:p>
            <a:pPr algn="ctr"/>
            <a:r>
              <a:rPr sz="1200" b="0" i="0">
                <a:solidFill>
                  <a:srgbClr val="5C5C5C"/>
                </a:solidFill>
                <a:latin typeface="Calibri"/>
              </a:rPr>
              <a:t>acceso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3072384"/>
            <a:ext cx="2788920" cy="1719072"/>
          </a:xfrm>
          <a:prstGeom prst="roundRect">
            <a:avLst>
              <a:gd name="adj" fmla="val 5000"/>
            </a:avLst>
          </a:prstGeom>
          <a:solidFill>
            <a:srgbClr val="F9F0F3"/>
          </a:solidFill>
          <a:ln w="9525">
            <a:solidFill>
              <a:srgbClr val="DDD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44768" y="3236976"/>
            <a:ext cx="278892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600" b="1" i="0">
                <a:solidFill>
                  <a:srgbClr val="5A1128"/>
                </a:solidFill>
                <a:latin typeface="Cambria"/>
              </a:rPr>
              <a:t>24/7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114800"/>
            <a:ext cx="24688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C5C5C"/>
                </a:solidFill>
                <a:latin typeface="Calibri"/>
              </a:rPr>
              <a:t>Disponible</a:t>
            </a:r>
          </a:p>
          <a:p>
            <a:pPr algn="ctr"/>
            <a:r>
              <a:rPr sz="1200" b="0" i="0">
                <a:solidFill>
                  <a:srgbClr val="5C5C5C"/>
                </a:solidFill>
                <a:latin typeface="Calibri"/>
              </a:rPr>
              <a:t>automatico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8C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Resultados y Visión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" y="1078992"/>
            <a:ext cx="4160520" cy="3840480"/>
          </a:xfrm>
          <a:prstGeom prst="roundRect">
            <a:avLst>
              <a:gd name="adj" fmla="val 5000"/>
            </a:avLst>
          </a:prstGeom>
          <a:solidFill>
            <a:srgbClr val="F9F0F3"/>
          </a:solidFill>
          <a:ln w="9525">
            <a:solidFill>
              <a:srgbClr val="DDD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115568"/>
            <a:ext cx="41605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8C1C40"/>
                </a:solidFill>
                <a:latin typeface="Cambria"/>
              </a:rPr>
              <a:t>Logros Alcanzados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64208"/>
            <a:ext cx="3886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  <a:latin typeface="Calibri"/>
              </a:rPr>
              <a:t>✅  Digitalización del proceso de Avisos de Movimiento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304288"/>
            <a:ext cx="3886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  <a:latin typeface="Calibri"/>
              </a:rPr>
              <a:t>✅  Reducción de errores en la captura de datos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944368"/>
            <a:ext cx="3886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  <a:latin typeface="Calibri"/>
              </a:rPr>
              <a:t>✅  Acceso centralizado para todo el equipo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584448"/>
            <a:ext cx="3886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  <a:latin typeface="Calibri"/>
              </a:rPr>
              <a:t>✅  Trazabilidad y control de acceso por roles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224528"/>
            <a:ext cx="3886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  <a:latin typeface="Calibri"/>
              </a:rPr>
              <a:t>✅  Infraestructura propia sin costos recurrentes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078992"/>
            <a:ext cx="4160520" cy="3840480"/>
          </a:xfrm>
          <a:prstGeom prst="roundRect">
            <a:avLst>
              <a:gd name="adj" fmla="val 5000"/>
            </a:avLst>
          </a:prstGeom>
          <a:solidFill>
            <a:srgbClr val="F0E8EC"/>
          </a:solidFill>
          <a:ln w="9525">
            <a:solidFill>
              <a:srgbClr val="DDD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115568"/>
            <a:ext cx="41605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8C1C40"/>
                </a:solidFill>
                <a:latin typeface="Cambria"/>
              </a:rPr>
              <a:t>Próximos Pasos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1664208"/>
            <a:ext cx="3886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  <a:latin typeface="Calibri"/>
              </a:rPr>
              <a:t>📋  Capacitación del equipo de 8 personas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304288"/>
            <a:ext cx="3886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  <a:latin typeface="Calibri"/>
              </a:rPr>
              <a:t>🔄  Procesamiento del histórico de documentos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944368"/>
            <a:ext cx="3886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  <a:latin typeface="Calibri"/>
              </a:rPr>
              <a:t>📈  Ampliación a otras áreas si se requiere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3584448"/>
            <a:ext cx="3886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  <a:latin typeface="Calibri"/>
              </a:rPr>
              <a:t>💾  Respaldo periódico de la base de datos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4224528"/>
            <a:ext cx="3886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C2C2C"/>
                </a:solidFill>
                <a:latin typeface="Calibri"/>
              </a:rPr>
              <a:t>🔒  IP estática asignada por el área de sistemas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1097280"/>
            <a:ext cx="4389120" cy="4389120"/>
          </a:xfrm>
          <a:prstGeom prst="ellipse">
            <a:avLst/>
          </a:prstGeom>
          <a:solidFill>
            <a:srgbClr val="C49A2A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583680" y="2286000"/>
            <a:ext cx="4389120" cy="4389120"/>
          </a:xfrm>
          <a:prstGeom prst="ellipse">
            <a:avLst/>
          </a:prstGeom>
          <a:solidFill>
            <a:srgbClr val="C49A2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480560"/>
            <a:ext cx="8595360" cy="6629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5A1128"/>
                </a:solidFill>
                <a:latin typeface="Calibri"/>
              </a:rPr>
              <a:t>2026  ·  FICG Systems  ·  Todos los derechos reservados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768096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mbria"/>
              </a:rPr>
              <a:t>Transformando la Gestión</a:t>
            </a:r>
          </a:p>
          <a:p>
            <a:pPr algn="ctr"/>
            <a:r>
              <a:rPr sz="4200" b="1" i="0">
                <a:solidFill>
                  <a:srgbClr val="FFFFFF"/>
                </a:solidFill>
                <a:latin typeface="Cambria"/>
              </a:rPr>
              <a:t>Documental del Estado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2670048"/>
            <a:ext cx="3291840" cy="36576"/>
          </a:xfrm>
          <a:prstGeom prst="rect">
            <a:avLst/>
          </a:prstGeom>
          <a:solidFill>
            <a:srgbClr val="C49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816352"/>
            <a:ext cx="804672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 i="1">
                <a:solidFill>
                  <a:srgbClr val="E8C96A"/>
                </a:solidFill>
                <a:latin typeface="Calibri"/>
              </a:rPr>
              <a:t>Desarrollado con tecnología de vanguardia</a:t>
            </a:r>
          </a:p>
          <a:p>
            <a:pPr algn="ctr"/>
            <a:r>
              <a:rPr sz="1500" b="0" i="1">
                <a:solidFill>
                  <a:srgbClr val="E8C96A"/>
                </a:solidFill>
                <a:latin typeface="Calibri"/>
              </a:rPr>
              <a:t>para la Secretaría de Educación del Estado de México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767328"/>
            <a:ext cx="45720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C49A2A"/>
                </a:solidFill>
                <a:latin typeface="Calibri"/>
              </a:rPr>
              <a:t>http://172.30.14.134:8000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